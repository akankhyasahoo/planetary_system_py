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951" autoAdjust="0"/>
  </p:normalViewPr>
  <p:slideViewPr>
    <p:cSldViewPr snapToGrid="0">
      <p:cViewPr varScale="1">
        <p:scale>
          <a:sx n="82" d="100"/>
          <a:sy n="82" d="100"/>
        </p:scale>
        <p:origin x="2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A411F-B8FA-44D6-9FA9-C20894F99950}" type="datetimeFigureOut">
              <a:rPr lang="en-IN" smtClean="0"/>
              <a:t>28-05-2026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75158-E169-478B-84A7-5C9DB403C54C}" type="slidenum">
              <a:rPr lang="en-IN" smtClean="0"/>
              <a:t>‹#›</a:t>
            </a:fld>
            <a:endParaRPr lang="en-IN"/>
          </a:p>
        </p:txBody>
      </p:sp>
    </p:spTree>
    <p:extLst>
      <p:ext uri="{BB962C8B-B14F-4D97-AF65-F5344CB8AC3E}">
        <p14:creationId xmlns:p14="http://schemas.microsoft.com/office/powerpoint/2010/main" val="1583073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75158-E169-478B-84A7-5C9DB403C54C}" type="slidenum">
              <a:rPr lang="en-IN" smtClean="0"/>
              <a:t>5</a:t>
            </a:fld>
            <a:endParaRPr lang="en-IN"/>
          </a:p>
        </p:txBody>
      </p:sp>
    </p:spTree>
    <p:extLst>
      <p:ext uri="{BB962C8B-B14F-4D97-AF65-F5344CB8AC3E}">
        <p14:creationId xmlns:p14="http://schemas.microsoft.com/office/powerpoint/2010/main" val="942122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14369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303360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839366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2475AA-9098-4CBE-81D0-9FE43D48E3E8}"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541621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2475AA-9098-4CBE-81D0-9FE43D48E3E8}"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1674108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2475AA-9098-4CBE-81D0-9FE43D48E3E8}"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8470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2475AA-9098-4CBE-81D0-9FE43D48E3E8}"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2063505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2475AA-9098-4CBE-81D0-9FE43D48E3E8}"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884929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2475AA-9098-4CBE-81D0-9FE43D48E3E8}"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1818913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406227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580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3031033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17559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1008296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1564183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2475AA-9098-4CBE-81D0-9FE43D48E3E8}"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0460CF-6CEE-434C-B778-957F85158C43}" type="slidenum">
              <a:rPr lang="en-IN" smtClean="0"/>
              <a:t>‹#›</a:t>
            </a:fld>
            <a:endParaRPr lang="en-IN"/>
          </a:p>
        </p:txBody>
      </p:sp>
    </p:spTree>
    <p:extLst>
      <p:ext uri="{BB962C8B-B14F-4D97-AF65-F5344CB8AC3E}">
        <p14:creationId xmlns:p14="http://schemas.microsoft.com/office/powerpoint/2010/main" val="3456954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12475AA-9098-4CBE-81D0-9FE43D48E3E8}" type="datetimeFigureOut">
              <a:rPr lang="en-IN" smtClean="0"/>
              <a:t>28-05-2026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20460CF-6CEE-434C-B778-957F85158C43}" type="slidenum">
              <a:rPr lang="en-IN" smtClean="0"/>
              <a:t>‹#›</a:t>
            </a:fld>
            <a:endParaRPr lang="en-IN"/>
          </a:p>
        </p:txBody>
      </p:sp>
    </p:spTree>
    <p:extLst>
      <p:ext uri="{BB962C8B-B14F-4D97-AF65-F5344CB8AC3E}">
        <p14:creationId xmlns:p14="http://schemas.microsoft.com/office/powerpoint/2010/main" val="748233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EB4F2-C0C5-8BF1-03BC-A637FD20F3D2}"/>
              </a:ext>
            </a:extLst>
          </p:cNvPr>
          <p:cNvSpPr>
            <a:spLocks noGrp="1"/>
          </p:cNvSpPr>
          <p:nvPr>
            <p:ph type="ctrTitle"/>
          </p:nvPr>
        </p:nvSpPr>
        <p:spPr>
          <a:xfrm>
            <a:off x="1556494" y="921723"/>
            <a:ext cx="7766936" cy="1646302"/>
          </a:xfrm>
        </p:spPr>
        <p:txBody>
          <a:bodyPr>
            <a:normAutofit/>
          </a:bodyPr>
          <a:lstStyle/>
          <a:p>
            <a:r>
              <a:rPr lang="en-IN" sz="2000" dirty="0"/>
              <a:t>Abstract</a:t>
            </a:r>
            <a:br>
              <a:rPr lang="en-IN" sz="2000" dirty="0"/>
            </a:br>
            <a:br>
              <a:rPr lang="en-IN" sz="2000" dirty="0"/>
            </a:br>
            <a:r>
              <a:rPr lang="en-IN" sz="2000" dirty="0"/>
              <a:t>On the topic “The Study of Newtons law’s of Motion </a:t>
            </a:r>
          </a:p>
        </p:txBody>
      </p:sp>
      <p:sp>
        <p:nvSpPr>
          <p:cNvPr id="3" name="Subtitle 2">
            <a:extLst>
              <a:ext uri="{FF2B5EF4-FFF2-40B4-BE49-F238E27FC236}">
                <a16:creationId xmlns:a16="http://schemas.microsoft.com/office/drawing/2014/main" id="{0727D5E2-8B25-DD60-6AE5-813783F58853}"/>
              </a:ext>
            </a:extLst>
          </p:cNvPr>
          <p:cNvSpPr>
            <a:spLocks noGrp="1"/>
          </p:cNvSpPr>
          <p:nvPr>
            <p:ph type="subTitle" idx="1"/>
          </p:nvPr>
        </p:nvSpPr>
        <p:spPr>
          <a:xfrm>
            <a:off x="1371141" y="3000510"/>
            <a:ext cx="8786112" cy="3857490"/>
          </a:xfrm>
        </p:spPr>
        <p:txBody>
          <a:bodyPr>
            <a:normAutofit/>
          </a:bodyPr>
          <a:lstStyle/>
          <a:p>
            <a:r>
              <a:rPr lang="en-US" sz="1400" dirty="0"/>
              <a:t>This thesis paper explains Newton’s Three Laws of Motion, which form the foundation of classical mechanics. The paper discusses the First Law of Motion (Law of Inertia), the Second Law of Motion, and the Third Law of Motion with examples and practical applications. The study also explains how these laws are used in transportation, sports, engineering, and space science. The purpose of this paper is to provide a clear understanding of motion and force in everyday life.</a:t>
            </a:r>
            <a:endParaRPr lang="en-IN" sz="1400" dirty="0"/>
          </a:p>
        </p:txBody>
      </p:sp>
    </p:spTree>
    <p:extLst>
      <p:ext uri="{BB962C8B-B14F-4D97-AF65-F5344CB8AC3E}">
        <p14:creationId xmlns:p14="http://schemas.microsoft.com/office/powerpoint/2010/main" val="4025876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4E05-1805-01EF-6ADC-00FF91410444}"/>
              </a:ext>
            </a:extLst>
          </p:cNvPr>
          <p:cNvSpPr>
            <a:spLocks noGrp="1"/>
          </p:cNvSpPr>
          <p:nvPr>
            <p:ph type="title"/>
          </p:nvPr>
        </p:nvSpPr>
        <p:spPr/>
        <p:txBody>
          <a:bodyPr>
            <a:normAutofit/>
          </a:bodyPr>
          <a:lstStyle/>
          <a:p>
            <a:r>
              <a:rPr lang="en-IN" sz="2000" dirty="0"/>
              <a:t>Introduction </a:t>
            </a:r>
          </a:p>
        </p:txBody>
      </p:sp>
      <p:sp>
        <p:nvSpPr>
          <p:cNvPr id="3" name="Content Placeholder 2">
            <a:extLst>
              <a:ext uri="{FF2B5EF4-FFF2-40B4-BE49-F238E27FC236}">
                <a16:creationId xmlns:a16="http://schemas.microsoft.com/office/drawing/2014/main" id="{B094463F-3D4A-DE37-79EE-BD5F8ECFEAFD}"/>
              </a:ext>
            </a:extLst>
          </p:cNvPr>
          <p:cNvSpPr>
            <a:spLocks noGrp="1"/>
          </p:cNvSpPr>
          <p:nvPr>
            <p:ph idx="1"/>
          </p:nvPr>
        </p:nvSpPr>
        <p:spPr>
          <a:xfrm>
            <a:off x="677334" y="1488613"/>
            <a:ext cx="8596668" cy="3880773"/>
          </a:xfrm>
        </p:spPr>
        <p:txBody>
          <a:bodyPr>
            <a:normAutofit lnSpcReduction="10000"/>
          </a:bodyPr>
          <a:lstStyle/>
          <a:p>
            <a:r>
              <a:rPr lang="en-IN" sz="1400" dirty="0"/>
              <a:t>These are some of the things which are mandatory to ask:-</a:t>
            </a:r>
          </a:p>
          <a:p>
            <a:r>
              <a:rPr lang="en-US" sz="1400" dirty="0"/>
              <a:t>What is motion?</a:t>
            </a:r>
          </a:p>
          <a:p>
            <a:r>
              <a:rPr lang="en-US" sz="1400" dirty="0"/>
              <a:t>Importance of physics</a:t>
            </a:r>
          </a:p>
          <a:p>
            <a:r>
              <a:rPr lang="en-US" sz="1400" dirty="0"/>
              <a:t>Importance of Newton’s laws</a:t>
            </a:r>
          </a:p>
          <a:p>
            <a:r>
              <a:rPr lang="en-US" sz="1400" dirty="0">
                <a:highlight>
                  <a:srgbClr val="FFFF00"/>
                </a:highlight>
              </a:rPr>
              <a:t>For example we can write this in this format</a:t>
            </a:r>
            <a:r>
              <a:rPr lang="en-US" sz="1400" dirty="0"/>
              <a:t>:-</a:t>
            </a:r>
          </a:p>
          <a:p>
            <a:r>
              <a:rPr lang="en-US" sz="1400" dirty="0">
                <a:solidFill>
                  <a:schemeClr val="accent1"/>
                </a:solidFill>
              </a:rPr>
              <a:t>Introduction</a:t>
            </a:r>
          </a:p>
          <a:p>
            <a:r>
              <a:rPr lang="en-US" sz="1400" dirty="0"/>
              <a:t>Physics is the branch of science that studies matter, energy, force, and motion. Motion is one of the most important concepts in physics because every object around us is either moving or capable of movement.</a:t>
            </a:r>
          </a:p>
          <a:p>
            <a:r>
              <a:rPr lang="en-US" sz="1400" dirty="0"/>
              <a:t>Sir Isaac Newton introduced the Three Laws of Motion in 1687 in his book Principia Mathematica. These laws explain how objects move and how forces affect them. Newton’s laws are the foundation of mechanics and are widely used in science, engineering, transportation, sports, and space technology.</a:t>
            </a:r>
          </a:p>
          <a:p>
            <a:r>
              <a:rPr lang="en-US" sz="1400" dirty="0"/>
              <a:t>This thesis paper explains each law in detail with examples and applications from daily life.</a:t>
            </a:r>
            <a:endParaRPr lang="en-IN" sz="1400" dirty="0"/>
          </a:p>
        </p:txBody>
      </p:sp>
    </p:spTree>
    <p:extLst>
      <p:ext uri="{BB962C8B-B14F-4D97-AF65-F5344CB8AC3E}">
        <p14:creationId xmlns:p14="http://schemas.microsoft.com/office/powerpoint/2010/main" val="1233092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D0D50-941E-21A8-51B0-F0595E0B0D87}"/>
              </a:ext>
            </a:extLst>
          </p:cNvPr>
          <p:cNvSpPr>
            <a:spLocks noGrp="1"/>
          </p:cNvSpPr>
          <p:nvPr>
            <p:ph type="title"/>
          </p:nvPr>
        </p:nvSpPr>
        <p:spPr/>
        <p:txBody>
          <a:bodyPr>
            <a:normAutofit/>
          </a:bodyPr>
          <a:lstStyle/>
          <a:p>
            <a:r>
              <a:rPr lang="en-IN" sz="2800" dirty="0"/>
              <a:t>Main body of the thesis</a:t>
            </a:r>
            <a:br>
              <a:rPr lang="en-IN" sz="2800" dirty="0"/>
            </a:br>
            <a:r>
              <a:rPr lang="en-IN" sz="2000" dirty="0"/>
              <a:t>Chapter 1:- Newton’s first law of Motion </a:t>
            </a:r>
            <a:endParaRPr lang="en-IN" sz="2800" dirty="0"/>
          </a:p>
        </p:txBody>
      </p:sp>
      <p:sp>
        <p:nvSpPr>
          <p:cNvPr id="3" name="Content Placeholder 2">
            <a:extLst>
              <a:ext uri="{FF2B5EF4-FFF2-40B4-BE49-F238E27FC236}">
                <a16:creationId xmlns:a16="http://schemas.microsoft.com/office/drawing/2014/main" id="{DF5BD548-696D-5762-F36A-AE56DA609CE4}"/>
              </a:ext>
            </a:extLst>
          </p:cNvPr>
          <p:cNvSpPr>
            <a:spLocks noGrp="1"/>
          </p:cNvSpPr>
          <p:nvPr>
            <p:ph idx="1"/>
          </p:nvPr>
        </p:nvSpPr>
        <p:spPr>
          <a:xfrm>
            <a:off x="677334" y="1678675"/>
            <a:ext cx="8596668" cy="3880773"/>
          </a:xfrm>
        </p:spPr>
        <p:txBody>
          <a:bodyPr>
            <a:normAutofit fontScale="92500" lnSpcReduction="20000"/>
          </a:bodyPr>
          <a:lstStyle/>
          <a:p>
            <a:r>
              <a:rPr lang="en-US" sz="1400" dirty="0">
                <a:solidFill>
                  <a:schemeClr val="accent1"/>
                </a:solidFill>
              </a:rPr>
              <a:t>Definition</a:t>
            </a:r>
          </a:p>
          <a:p>
            <a:r>
              <a:rPr lang="en-US" sz="1400" dirty="0"/>
              <a:t>An object remains at rest or continues moving with uniform velocity unless acted upon by an external force.</a:t>
            </a:r>
          </a:p>
          <a:p>
            <a:r>
              <a:rPr lang="en-US" sz="1400" dirty="0"/>
              <a:t>This law is called the Law of Inertia.</a:t>
            </a:r>
          </a:p>
          <a:p>
            <a:r>
              <a:rPr lang="en-US" sz="1400" dirty="0">
                <a:solidFill>
                  <a:schemeClr val="accent1"/>
                </a:solidFill>
              </a:rPr>
              <a:t>key Idea</a:t>
            </a:r>
          </a:p>
          <a:p>
            <a:r>
              <a:rPr lang="en-US" sz="1400" dirty="0"/>
              <a:t>Objects resist changes in motion.</a:t>
            </a:r>
          </a:p>
          <a:p>
            <a:r>
              <a:rPr lang="en-US" sz="1400" dirty="0">
                <a:solidFill>
                  <a:schemeClr val="accent1"/>
                </a:solidFill>
              </a:rPr>
              <a:t>Examples</a:t>
            </a:r>
          </a:p>
          <a:p>
            <a:r>
              <a:rPr lang="en-US" sz="1400" dirty="0"/>
              <a:t>A book stays on a table until pushed.</a:t>
            </a:r>
          </a:p>
          <a:p>
            <a:r>
              <a:rPr lang="en-US" sz="1400" dirty="0"/>
              <a:t>Passengers move forward when a bus stops suddenly.</a:t>
            </a:r>
          </a:p>
          <a:p>
            <a:r>
              <a:rPr lang="en-US" sz="1400" dirty="0">
                <a:solidFill>
                  <a:schemeClr val="accent1"/>
                </a:solidFill>
              </a:rPr>
              <a:t>Applications</a:t>
            </a:r>
          </a:p>
          <a:p>
            <a:r>
              <a:rPr lang="en-US" sz="1400" dirty="0"/>
              <a:t>Seat belts in cars</a:t>
            </a:r>
          </a:p>
          <a:p>
            <a:r>
              <a:rPr lang="en-US" sz="1400" dirty="0"/>
              <a:t>Stability of buildings</a:t>
            </a:r>
          </a:p>
          <a:p>
            <a:r>
              <a:rPr lang="en-US" sz="1400" dirty="0">
                <a:solidFill>
                  <a:schemeClr val="accent1"/>
                </a:solidFill>
              </a:rPr>
              <a:t>Formula and Concept</a:t>
            </a:r>
          </a:p>
          <a:p>
            <a:r>
              <a:rPr lang="en-US" sz="1400" dirty="0"/>
              <a:t>V=u + at</a:t>
            </a:r>
            <a:endParaRPr lang="en-IN" sz="1400" dirty="0"/>
          </a:p>
        </p:txBody>
      </p:sp>
    </p:spTree>
    <p:extLst>
      <p:ext uri="{BB962C8B-B14F-4D97-AF65-F5344CB8AC3E}">
        <p14:creationId xmlns:p14="http://schemas.microsoft.com/office/powerpoint/2010/main" val="1691695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21ECD-A4E7-3C6E-DF83-BC9240AAF2BD}"/>
              </a:ext>
            </a:extLst>
          </p:cNvPr>
          <p:cNvSpPr>
            <a:spLocks noGrp="1"/>
          </p:cNvSpPr>
          <p:nvPr>
            <p:ph type="title"/>
          </p:nvPr>
        </p:nvSpPr>
        <p:spPr/>
        <p:txBody>
          <a:bodyPr>
            <a:normAutofit/>
          </a:bodyPr>
          <a:lstStyle/>
          <a:p>
            <a:r>
              <a:rPr lang="en-IN" sz="2000" dirty="0"/>
              <a:t>Chapter 2:-Newton’s Second law of motion </a:t>
            </a:r>
          </a:p>
        </p:txBody>
      </p:sp>
      <p:sp>
        <p:nvSpPr>
          <p:cNvPr id="3" name="Content Placeholder 2">
            <a:extLst>
              <a:ext uri="{FF2B5EF4-FFF2-40B4-BE49-F238E27FC236}">
                <a16:creationId xmlns:a16="http://schemas.microsoft.com/office/drawing/2014/main" id="{9FC4A81D-7583-6F15-BF04-E35FF24F0695}"/>
              </a:ext>
            </a:extLst>
          </p:cNvPr>
          <p:cNvSpPr>
            <a:spLocks noGrp="1"/>
          </p:cNvSpPr>
          <p:nvPr>
            <p:ph idx="1"/>
          </p:nvPr>
        </p:nvSpPr>
        <p:spPr>
          <a:xfrm>
            <a:off x="677334" y="1035222"/>
            <a:ext cx="8596668" cy="5822778"/>
          </a:xfrm>
        </p:spPr>
        <p:txBody>
          <a:bodyPr>
            <a:normAutofit fontScale="92500" lnSpcReduction="20000"/>
          </a:bodyPr>
          <a:lstStyle/>
          <a:p>
            <a:pPr marL="0" indent="0">
              <a:buNone/>
            </a:pPr>
            <a:r>
              <a:rPr lang="en-US" sz="1400" dirty="0">
                <a:solidFill>
                  <a:schemeClr val="accent1"/>
                </a:solidFill>
              </a:rPr>
              <a:t>Definition</a:t>
            </a:r>
          </a:p>
          <a:p>
            <a:pPr marL="0" indent="0">
              <a:buNone/>
            </a:pPr>
            <a:r>
              <a:rPr lang="en-US" sz="1400" dirty="0"/>
              <a:t>The acceleration of an object depends on:</a:t>
            </a:r>
          </a:p>
          <a:p>
            <a:pPr marL="0" indent="0">
              <a:buNone/>
            </a:pPr>
            <a:r>
              <a:rPr lang="en-US" sz="1400" dirty="0"/>
              <a:t>Force applied</a:t>
            </a:r>
          </a:p>
          <a:p>
            <a:pPr marL="0" indent="0">
              <a:buNone/>
            </a:pPr>
            <a:r>
              <a:rPr lang="en-US" sz="1400" dirty="0"/>
              <a:t>Mass of object</a:t>
            </a:r>
          </a:p>
          <a:p>
            <a:pPr marL="0" indent="0">
              <a:buNone/>
            </a:pPr>
            <a:r>
              <a:rPr lang="en-US" sz="1400" dirty="0">
                <a:solidFill>
                  <a:schemeClr val="accent1"/>
                </a:solidFill>
              </a:rPr>
              <a:t>Formula</a:t>
            </a:r>
            <a:r>
              <a:rPr lang="en-US" sz="1400" dirty="0"/>
              <a:t>   F=m a</a:t>
            </a:r>
          </a:p>
          <a:p>
            <a:pPr marL="0" indent="0">
              <a:buNone/>
            </a:pPr>
            <a:r>
              <a:rPr lang="en-US" sz="1400" dirty="0"/>
              <a:t>Where:</a:t>
            </a:r>
          </a:p>
          <a:p>
            <a:pPr marL="0" indent="0">
              <a:buNone/>
            </a:pPr>
            <a:r>
              <a:rPr lang="en-US" sz="1400" dirty="0"/>
              <a:t>F = Force</a:t>
            </a:r>
          </a:p>
          <a:p>
            <a:pPr marL="0" indent="0">
              <a:buNone/>
            </a:pPr>
            <a:r>
              <a:rPr lang="en-US" sz="1400" dirty="0"/>
              <a:t>m = Mass</a:t>
            </a:r>
          </a:p>
          <a:p>
            <a:pPr marL="0" indent="0">
              <a:buNone/>
            </a:pPr>
            <a:r>
              <a:rPr lang="en-US" sz="1400" dirty="0"/>
              <a:t>a = Acceleration</a:t>
            </a:r>
          </a:p>
          <a:p>
            <a:pPr marL="0" indent="0">
              <a:buNone/>
            </a:pPr>
            <a:r>
              <a:rPr lang="en-US" sz="1400" dirty="0">
                <a:solidFill>
                  <a:schemeClr val="accent1"/>
                </a:solidFill>
              </a:rPr>
              <a:t>Explanation</a:t>
            </a:r>
          </a:p>
          <a:p>
            <a:pPr marL="0" indent="0">
              <a:buNone/>
            </a:pPr>
            <a:r>
              <a:rPr lang="en-US" sz="1400" dirty="0"/>
              <a:t>Greater force produces greater acceleration.</a:t>
            </a:r>
          </a:p>
          <a:p>
            <a:pPr marL="0" indent="0">
              <a:buNone/>
            </a:pPr>
            <a:r>
              <a:rPr lang="en-US" sz="1400" dirty="0"/>
              <a:t>Heavy objects require more force.</a:t>
            </a:r>
          </a:p>
          <a:p>
            <a:pPr marL="0" indent="0">
              <a:buNone/>
            </a:pPr>
            <a:r>
              <a:rPr lang="en-US" sz="1400" dirty="0">
                <a:solidFill>
                  <a:schemeClr val="accent1"/>
                </a:solidFill>
              </a:rPr>
              <a:t>Examples</a:t>
            </a:r>
          </a:p>
          <a:p>
            <a:pPr marL="0" indent="0">
              <a:buNone/>
            </a:pPr>
            <a:r>
              <a:rPr lang="en-US" sz="1400" dirty="0"/>
              <a:t>Kicking a football</a:t>
            </a:r>
          </a:p>
          <a:p>
            <a:pPr marL="0" indent="0">
              <a:buNone/>
            </a:pPr>
            <a:r>
              <a:rPr lang="en-US" sz="1400" dirty="0"/>
              <a:t>Pushing a shopping cart</a:t>
            </a:r>
          </a:p>
          <a:p>
            <a:pPr marL="0" indent="0">
              <a:buNone/>
            </a:pPr>
            <a:r>
              <a:rPr lang="en-US" sz="1400" dirty="0">
                <a:solidFill>
                  <a:schemeClr val="accent1"/>
                </a:solidFill>
              </a:rPr>
              <a:t>Applications</a:t>
            </a:r>
          </a:p>
          <a:p>
            <a:pPr marL="0" indent="0">
              <a:buNone/>
            </a:pPr>
            <a:r>
              <a:rPr lang="en-US" sz="1400" dirty="0"/>
              <a:t>Vehicle engines</a:t>
            </a:r>
          </a:p>
          <a:p>
            <a:pPr marL="0" indent="0">
              <a:buNone/>
            </a:pPr>
            <a:r>
              <a:rPr lang="en-US" sz="1400" dirty="0"/>
              <a:t>Rocket launching</a:t>
            </a:r>
          </a:p>
          <a:p>
            <a:pPr marL="0" indent="0">
              <a:buNone/>
            </a:pPr>
            <a:r>
              <a:rPr lang="en-US" sz="1400" dirty="0"/>
              <a:t>Industrial machines</a:t>
            </a:r>
          </a:p>
          <a:p>
            <a:pPr marL="0" indent="0">
              <a:buNone/>
            </a:pPr>
            <a:r>
              <a:rPr lang="en-US" sz="1400" dirty="0">
                <a:solidFill>
                  <a:schemeClr val="accent1"/>
                </a:solidFill>
              </a:rPr>
              <a:t>Force and Motion Relationship     </a:t>
            </a:r>
            <a:r>
              <a:rPr lang="en-US" sz="1400" dirty="0"/>
              <a:t>F g = m g</a:t>
            </a:r>
          </a:p>
        </p:txBody>
      </p:sp>
    </p:spTree>
    <p:extLst>
      <p:ext uri="{BB962C8B-B14F-4D97-AF65-F5344CB8AC3E}">
        <p14:creationId xmlns:p14="http://schemas.microsoft.com/office/powerpoint/2010/main" val="3578702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FD81A-322E-4B2F-E8F8-7EC1E507F8B7}"/>
              </a:ext>
            </a:extLst>
          </p:cNvPr>
          <p:cNvSpPr>
            <a:spLocks noGrp="1"/>
          </p:cNvSpPr>
          <p:nvPr>
            <p:ph type="title"/>
          </p:nvPr>
        </p:nvSpPr>
        <p:spPr/>
        <p:txBody>
          <a:bodyPr>
            <a:normAutofit/>
          </a:bodyPr>
          <a:lstStyle/>
          <a:p>
            <a:r>
              <a:rPr lang="en-IN" sz="2000" dirty="0"/>
              <a:t>Chapter 3:-Newton’s law of motion </a:t>
            </a:r>
          </a:p>
        </p:txBody>
      </p:sp>
      <p:sp>
        <p:nvSpPr>
          <p:cNvPr id="3" name="Content Placeholder 2">
            <a:extLst>
              <a:ext uri="{FF2B5EF4-FFF2-40B4-BE49-F238E27FC236}">
                <a16:creationId xmlns:a16="http://schemas.microsoft.com/office/drawing/2014/main" id="{9B35E77B-A81C-7D77-ACA8-744B9CB48CA1}"/>
              </a:ext>
            </a:extLst>
          </p:cNvPr>
          <p:cNvSpPr>
            <a:spLocks noGrp="1"/>
          </p:cNvSpPr>
          <p:nvPr>
            <p:ph idx="1"/>
          </p:nvPr>
        </p:nvSpPr>
        <p:spPr>
          <a:xfrm>
            <a:off x="677334" y="1046828"/>
            <a:ext cx="8596668" cy="6070664"/>
          </a:xfrm>
        </p:spPr>
        <p:txBody>
          <a:bodyPr>
            <a:normAutofit/>
          </a:bodyPr>
          <a:lstStyle/>
          <a:p>
            <a:pPr marL="0" indent="0">
              <a:buNone/>
            </a:pPr>
            <a:r>
              <a:rPr lang="en-US" sz="1400" dirty="0">
                <a:solidFill>
                  <a:schemeClr val="accent1"/>
                </a:solidFill>
              </a:rPr>
              <a:t>Definition</a:t>
            </a:r>
          </a:p>
          <a:p>
            <a:pPr marL="0" indent="0">
              <a:buNone/>
            </a:pPr>
            <a:r>
              <a:rPr lang="en-US" sz="1400" dirty="0">
                <a:solidFill>
                  <a:schemeClr val="tx1"/>
                </a:solidFill>
              </a:rPr>
              <a:t>For every action, there is an equal and opposite reaction</a:t>
            </a:r>
            <a:r>
              <a:rPr lang="en-US" sz="1400" dirty="0">
                <a:solidFill>
                  <a:schemeClr val="accent1"/>
                </a:solidFill>
              </a:rPr>
              <a:t>.</a:t>
            </a:r>
          </a:p>
          <a:p>
            <a:pPr marL="0" indent="0">
              <a:buNone/>
            </a:pPr>
            <a:r>
              <a:rPr lang="en-US" sz="1400" dirty="0">
                <a:solidFill>
                  <a:schemeClr val="accent1"/>
                </a:solidFill>
              </a:rPr>
              <a:t>Examples</a:t>
            </a:r>
          </a:p>
          <a:p>
            <a:pPr marL="0" indent="0">
              <a:buNone/>
            </a:pPr>
            <a:r>
              <a:rPr lang="en-US" sz="1400" dirty="0">
                <a:solidFill>
                  <a:schemeClr val="tx1"/>
                </a:solidFill>
              </a:rPr>
              <a:t>Gun recoil</a:t>
            </a:r>
          </a:p>
          <a:p>
            <a:pPr marL="0" indent="0">
              <a:buNone/>
            </a:pPr>
            <a:r>
              <a:rPr lang="en-US" sz="1400" dirty="0">
                <a:solidFill>
                  <a:schemeClr val="tx1"/>
                </a:solidFill>
              </a:rPr>
              <a:t>Rocket propulsion</a:t>
            </a:r>
          </a:p>
          <a:p>
            <a:pPr marL="0" indent="0">
              <a:buNone/>
            </a:pPr>
            <a:r>
              <a:rPr lang="en-US" sz="1400" dirty="0">
                <a:solidFill>
                  <a:schemeClr val="tx1"/>
                </a:solidFill>
              </a:rPr>
              <a:t>Walking on the ground</a:t>
            </a:r>
          </a:p>
          <a:p>
            <a:pPr marL="0" indent="0">
              <a:buNone/>
            </a:pPr>
            <a:r>
              <a:rPr lang="en-US" sz="1400" dirty="0">
                <a:solidFill>
                  <a:schemeClr val="accent1"/>
                </a:solidFill>
              </a:rPr>
              <a:t>Explanation</a:t>
            </a:r>
          </a:p>
          <a:p>
            <a:pPr marL="0" indent="0">
              <a:buNone/>
            </a:pPr>
            <a:r>
              <a:rPr lang="en-US" sz="1400" dirty="0">
                <a:solidFill>
                  <a:schemeClr val="tx1"/>
                </a:solidFill>
              </a:rPr>
              <a:t>When one object exerts force on another object, the second object exerts an equal force in the opposite direction.</a:t>
            </a:r>
          </a:p>
          <a:p>
            <a:pPr marL="0" indent="0">
              <a:buNone/>
            </a:pPr>
            <a:r>
              <a:rPr lang="en-US" sz="1400" dirty="0">
                <a:solidFill>
                  <a:schemeClr val="accent1"/>
                </a:solidFill>
              </a:rPr>
              <a:t>Applications</a:t>
            </a:r>
          </a:p>
          <a:p>
            <a:pPr marL="0" indent="0">
              <a:buNone/>
            </a:pPr>
            <a:r>
              <a:rPr lang="en-US" sz="1400" dirty="0">
                <a:solidFill>
                  <a:schemeClr val="tx1"/>
                </a:solidFill>
              </a:rPr>
              <a:t>Swimming</a:t>
            </a:r>
          </a:p>
          <a:p>
            <a:pPr marL="0" indent="0">
              <a:buNone/>
            </a:pPr>
            <a:r>
              <a:rPr lang="en-US" sz="1400" dirty="0">
                <a:solidFill>
                  <a:schemeClr val="tx1"/>
                </a:solidFill>
              </a:rPr>
              <a:t>Aircraft propulsion</a:t>
            </a:r>
          </a:p>
          <a:p>
            <a:pPr marL="0" indent="0">
              <a:buNone/>
            </a:pPr>
            <a:r>
              <a:rPr lang="en-US" sz="1400" dirty="0">
                <a:solidFill>
                  <a:schemeClr val="tx1"/>
                </a:solidFill>
              </a:rPr>
              <a:t>Spacecraft movement</a:t>
            </a:r>
          </a:p>
        </p:txBody>
      </p:sp>
    </p:spTree>
    <p:extLst>
      <p:ext uri="{BB962C8B-B14F-4D97-AF65-F5344CB8AC3E}">
        <p14:creationId xmlns:p14="http://schemas.microsoft.com/office/powerpoint/2010/main" val="3170455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743F-E0E7-04C6-6CC5-3F79B14FFBE8}"/>
              </a:ext>
            </a:extLst>
          </p:cNvPr>
          <p:cNvSpPr>
            <a:spLocks noGrp="1"/>
          </p:cNvSpPr>
          <p:nvPr>
            <p:ph type="title"/>
          </p:nvPr>
        </p:nvSpPr>
        <p:spPr/>
        <p:txBody>
          <a:bodyPr>
            <a:normAutofit/>
          </a:bodyPr>
          <a:lstStyle/>
          <a:p>
            <a:r>
              <a:rPr lang="en-IN" sz="2000" dirty="0"/>
              <a:t>Real life applications of laws of motion </a:t>
            </a:r>
          </a:p>
        </p:txBody>
      </p:sp>
      <p:sp>
        <p:nvSpPr>
          <p:cNvPr id="3" name="Content Placeholder 2">
            <a:extLst>
              <a:ext uri="{FF2B5EF4-FFF2-40B4-BE49-F238E27FC236}">
                <a16:creationId xmlns:a16="http://schemas.microsoft.com/office/drawing/2014/main" id="{F509A799-CA5C-E0AC-6346-FA4E6A00D0D2}"/>
              </a:ext>
            </a:extLst>
          </p:cNvPr>
          <p:cNvSpPr>
            <a:spLocks noGrp="1"/>
          </p:cNvSpPr>
          <p:nvPr>
            <p:ph idx="1"/>
          </p:nvPr>
        </p:nvSpPr>
        <p:spPr>
          <a:xfrm>
            <a:off x="677334" y="1387231"/>
            <a:ext cx="8596668" cy="3880773"/>
          </a:xfrm>
        </p:spPr>
        <p:txBody>
          <a:bodyPr>
            <a:normAutofit/>
          </a:bodyPr>
          <a:lstStyle/>
          <a:p>
            <a:r>
              <a:rPr lang="en-US" sz="1400" dirty="0"/>
              <a:t>You can add a separate section discussing practical uses.</a:t>
            </a:r>
          </a:p>
          <a:p>
            <a:r>
              <a:rPr lang="en-US" sz="1400" dirty="0"/>
              <a:t>Examples</a:t>
            </a:r>
          </a:p>
          <a:p>
            <a:pPr marL="0" indent="0">
              <a:buNone/>
            </a:pPr>
            <a:r>
              <a:rPr lang="en-US" sz="1400" dirty="0"/>
              <a:t>       Field                                                          Application</a:t>
            </a:r>
          </a:p>
          <a:p>
            <a:r>
              <a:rPr lang="en-US" sz="1400" dirty="0"/>
              <a:t>Transportation                                            Seat belts, brakes</a:t>
            </a:r>
          </a:p>
          <a:p>
            <a:r>
              <a:rPr lang="en-US" sz="1400" dirty="0"/>
              <a:t>Sports                                                        Running, jumping</a:t>
            </a:r>
          </a:p>
          <a:p>
            <a:r>
              <a:rPr lang="en-US" sz="1400" dirty="0"/>
              <a:t>Engineering                                                Machines, bridges</a:t>
            </a:r>
          </a:p>
          <a:p>
            <a:r>
              <a:rPr lang="en-US" sz="1400" dirty="0"/>
              <a:t>Space Science                                            Rocket motion</a:t>
            </a:r>
            <a:endParaRPr lang="en-IN" sz="1400" dirty="0"/>
          </a:p>
        </p:txBody>
      </p:sp>
    </p:spTree>
    <p:extLst>
      <p:ext uri="{BB962C8B-B14F-4D97-AF65-F5344CB8AC3E}">
        <p14:creationId xmlns:p14="http://schemas.microsoft.com/office/powerpoint/2010/main" val="147925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7309B-4DF4-5BC9-875F-39010B04188F}"/>
              </a:ext>
            </a:extLst>
          </p:cNvPr>
          <p:cNvSpPr>
            <a:spLocks noGrp="1"/>
          </p:cNvSpPr>
          <p:nvPr>
            <p:ph type="title"/>
          </p:nvPr>
        </p:nvSpPr>
        <p:spPr/>
        <p:txBody>
          <a:bodyPr>
            <a:normAutofit/>
          </a:bodyPr>
          <a:lstStyle/>
          <a:p>
            <a:r>
              <a:rPr lang="en-IN" sz="2000" dirty="0"/>
              <a:t>Advantages of Newton’s laws</a:t>
            </a:r>
          </a:p>
        </p:txBody>
      </p:sp>
      <p:sp>
        <p:nvSpPr>
          <p:cNvPr id="3" name="Content Placeholder 2">
            <a:extLst>
              <a:ext uri="{FF2B5EF4-FFF2-40B4-BE49-F238E27FC236}">
                <a16:creationId xmlns:a16="http://schemas.microsoft.com/office/drawing/2014/main" id="{ACA34932-FA86-48EB-13EB-1AF5BE76CB3C}"/>
              </a:ext>
            </a:extLst>
          </p:cNvPr>
          <p:cNvSpPr>
            <a:spLocks noGrp="1"/>
          </p:cNvSpPr>
          <p:nvPr>
            <p:ph idx="1"/>
          </p:nvPr>
        </p:nvSpPr>
        <p:spPr>
          <a:xfrm>
            <a:off x="677334" y="1488613"/>
            <a:ext cx="8596668" cy="3880773"/>
          </a:xfrm>
        </p:spPr>
        <p:txBody>
          <a:bodyPr>
            <a:normAutofit/>
          </a:bodyPr>
          <a:lstStyle/>
          <a:p>
            <a:r>
              <a:rPr lang="en-US" sz="1400" dirty="0"/>
              <a:t>Explain motion clearly</a:t>
            </a:r>
          </a:p>
          <a:p>
            <a:r>
              <a:rPr lang="en-US" sz="1400" dirty="0"/>
              <a:t>Foundation of mechanics</a:t>
            </a:r>
          </a:p>
          <a:p>
            <a:r>
              <a:rPr lang="en-US" sz="1400" dirty="0"/>
              <a:t>Used in engineering and technology</a:t>
            </a:r>
          </a:p>
          <a:p>
            <a:r>
              <a:rPr lang="en-US" sz="1400" dirty="0"/>
              <a:t>Important in modern physics</a:t>
            </a:r>
            <a:endParaRPr lang="en-IN" sz="1400" dirty="0"/>
          </a:p>
        </p:txBody>
      </p:sp>
    </p:spTree>
    <p:extLst>
      <p:ext uri="{BB962C8B-B14F-4D97-AF65-F5344CB8AC3E}">
        <p14:creationId xmlns:p14="http://schemas.microsoft.com/office/powerpoint/2010/main" val="1277196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73302-3320-323A-80CD-BAA6A98CDB09}"/>
              </a:ext>
            </a:extLst>
          </p:cNvPr>
          <p:cNvSpPr>
            <a:spLocks noGrp="1"/>
          </p:cNvSpPr>
          <p:nvPr>
            <p:ph type="title"/>
          </p:nvPr>
        </p:nvSpPr>
        <p:spPr/>
        <p:txBody>
          <a:bodyPr>
            <a:normAutofit/>
          </a:bodyPr>
          <a:lstStyle/>
          <a:p>
            <a:r>
              <a:rPr lang="en-IN" sz="2000" dirty="0"/>
              <a:t>Limitations </a:t>
            </a:r>
          </a:p>
        </p:txBody>
      </p:sp>
      <p:sp>
        <p:nvSpPr>
          <p:cNvPr id="3" name="Content Placeholder 2">
            <a:extLst>
              <a:ext uri="{FF2B5EF4-FFF2-40B4-BE49-F238E27FC236}">
                <a16:creationId xmlns:a16="http://schemas.microsoft.com/office/drawing/2014/main" id="{E8180E65-4016-F668-A2DB-AF9484EFEAD9}"/>
              </a:ext>
            </a:extLst>
          </p:cNvPr>
          <p:cNvSpPr>
            <a:spLocks noGrp="1"/>
          </p:cNvSpPr>
          <p:nvPr>
            <p:ph idx="1"/>
          </p:nvPr>
        </p:nvSpPr>
        <p:spPr>
          <a:xfrm>
            <a:off x="583550" y="1270000"/>
            <a:ext cx="8596668" cy="3880773"/>
          </a:xfrm>
        </p:spPr>
        <p:txBody>
          <a:bodyPr>
            <a:normAutofit/>
          </a:bodyPr>
          <a:lstStyle/>
          <a:p>
            <a:pPr marL="0" indent="0">
              <a:buNone/>
            </a:pPr>
            <a:r>
              <a:rPr lang="en-US" sz="1400" dirty="0"/>
              <a:t>You can mention:</a:t>
            </a:r>
          </a:p>
          <a:p>
            <a:r>
              <a:rPr lang="en-US" sz="1400" dirty="0"/>
              <a:t>Newton’s laws do not work accurately at extremely high speeds near the speed of light.</a:t>
            </a:r>
          </a:p>
          <a:p>
            <a:r>
              <a:rPr lang="en-US" sz="1400" dirty="0"/>
              <a:t>Quantum mechanics is needed for microscopic particles.</a:t>
            </a:r>
            <a:endParaRPr lang="en-IN" sz="1400" dirty="0"/>
          </a:p>
        </p:txBody>
      </p:sp>
    </p:spTree>
    <p:extLst>
      <p:ext uri="{BB962C8B-B14F-4D97-AF65-F5344CB8AC3E}">
        <p14:creationId xmlns:p14="http://schemas.microsoft.com/office/powerpoint/2010/main" val="387764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D4AC-2F1D-C671-1134-30519FAB2A1E}"/>
              </a:ext>
            </a:extLst>
          </p:cNvPr>
          <p:cNvSpPr>
            <a:spLocks noGrp="1"/>
          </p:cNvSpPr>
          <p:nvPr>
            <p:ph type="title"/>
          </p:nvPr>
        </p:nvSpPr>
        <p:spPr/>
        <p:txBody>
          <a:bodyPr>
            <a:normAutofit/>
          </a:bodyPr>
          <a:lstStyle/>
          <a:p>
            <a:r>
              <a:rPr lang="en-IN" sz="2000" dirty="0"/>
              <a:t>Conclusion </a:t>
            </a:r>
          </a:p>
        </p:txBody>
      </p:sp>
      <p:sp>
        <p:nvSpPr>
          <p:cNvPr id="3" name="Content Placeholder 2">
            <a:extLst>
              <a:ext uri="{FF2B5EF4-FFF2-40B4-BE49-F238E27FC236}">
                <a16:creationId xmlns:a16="http://schemas.microsoft.com/office/drawing/2014/main" id="{2CB8F01D-2AD4-C3ED-0FD6-B3144E7B8D97}"/>
              </a:ext>
            </a:extLst>
          </p:cNvPr>
          <p:cNvSpPr>
            <a:spLocks noGrp="1"/>
          </p:cNvSpPr>
          <p:nvPr>
            <p:ph idx="1"/>
          </p:nvPr>
        </p:nvSpPr>
        <p:spPr>
          <a:xfrm>
            <a:off x="595272" y="1164127"/>
            <a:ext cx="8596668" cy="3880773"/>
          </a:xfrm>
        </p:spPr>
        <p:txBody>
          <a:bodyPr>
            <a:normAutofit/>
          </a:bodyPr>
          <a:lstStyle/>
          <a:p>
            <a:r>
              <a:rPr lang="en-US" sz="1400" dirty="0"/>
              <a:t>Use it as an example that is mean to summarize the whole thesis into a small summary pattern </a:t>
            </a:r>
          </a:p>
          <a:p>
            <a:endParaRPr lang="en-US" sz="1400" dirty="0"/>
          </a:p>
          <a:p>
            <a:endParaRPr lang="en-US" sz="1400" dirty="0"/>
          </a:p>
          <a:p>
            <a:r>
              <a:rPr lang="en-US" sz="1400" dirty="0"/>
              <a:t>Newton’s Three Laws of Motion are among the most important principles in physics. These laws explain the relationship between force and motion and help us understand how objects behave in everyday life. From moving vehicles to launching rockets into space, Newton’s laws play a major role in science and technology. Understanding these laws improves our knowledge of mechanics and forms the basis for advanced studies in physics and engineering.</a:t>
            </a:r>
            <a:endParaRPr lang="en-IN" sz="1400" dirty="0"/>
          </a:p>
        </p:txBody>
      </p:sp>
    </p:spTree>
    <p:extLst>
      <p:ext uri="{BB962C8B-B14F-4D97-AF65-F5344CB8AC3E}">
        <p14:creationId xmlns:p14="http://schemas.microsoft.com/office/powerpoint/2010/main" val="880507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44E74-35F6-DE65-8945-D14990AD98FF}"/>
              </a:ext>
            </a:extLst>
          </p:cNvPr>
          <p:cNvSpPr>
            <a:spLocks noGrp="1"/>
          </p:cNvSpPr>
          <p:nvPr>
            <p:ph type="title"/>
          </p:nvPr>
        </p:nvSpPr>
        <p:spPr/>
        <p:txBody>
          <a:bodyPr>
            <a:normAutofit/>
          </a:bodyPr>
          <a:lstStyle/>
          <a:p>
            <a:r>
              <a:rPr lang="en-IN" sz="2000" dirty="0"/>
              <a:t>Reference / bibliography</a:t>
            </a:r>
          </a:p>
        </p:txBody>
      </p:sp>
      <p:sp>
        <p:nvSpPr>
          <p:cNvPr id="3" name="Content Placeholder 2">
            <a:extLst>
              <a:ext uri="{FF2B5EF4-FFF2-40B4-BE49-F238E27FC236}">
                <a16:creationId xmlns:a16="http://schemas.microsoft.com/office/drawing/2014/main" id="{FBE47ED9-C839-9C02-32D1-06667692ED8E}"/>
              </a:ext>
            </a:extLst>
          </p:cNvPr>
          <p:cNvSpPr>
            <a:spLocks noGrp="1"/>
          </p:cNvSpPr>
          <p:nvPr>
            <p:ph idx="1"/>
          </p:nvPr>
        </p:nvSpPr>
        <p:spPr>
          <a:xfrm>
            <a:off x="677334" y="1270000"/>
            <a:ext cx="8596668" cy="3880773"/>
          </a:xfrm>
        </p:spPr>
        <p:txBody>
          <a:bodyPr/>
          <a:lstStyle/>
          <a:p>
            <a:r>
              <a:rPr lang="en-IN" dirty="0"/>
              <a:t>Concept of physics by h c </a:t>
            </a:r>
            <a:r>
              <a:rPr lang="en-IN" dirty="0" err="1"/>
              <a:t>verma</a:t>
            </a:r>
            <a:r>
              <a:rPr lang="en-IN" dirty="0"/>
              <a:t> </a:t>
            </a:r>
          </a:p>
          <a:p>
            <a:r>
              <a:rPr lang="en-IN" dirty="0" err="1"/>
              <a:t>Ignou</a:t>
            </a:r>
            <a:r>
              <a:rPr lang="en-IN" dirty="0"/>
              <a:t> :-mechanics volume 1</a:t>
            </a:r>
          </a:p>
          <a:p>
            <a:r>
              <a:rPr lang="en-IN" dirty="0"/>
              <a:t>Issac newton’s principia mathematics </a:t>
            </a:r>
          </a:p>
          <a:p>
            <a:r>
              <a:rPr lang="en-IN" dirty="0"/>
              <a:t>The </a:t>
            </a:r>
            <a:r>
              <a:rPr lang="en-IN" dirty="0" err="1"/>
              <a:t>feyyman</a:t>
            </a:r>
            <a:r>
              <a:rPr lang="en-IN" dirty="0"/>
              <a:t> lecture 1:-mainly mechanics , radiation and heat</a:t>
            </a:r>
          </a:p>
        </p:txBody>
      </p:sp>
    </p:spTree>
    <p:extLst>
      <p:ext uri="{BB962C8B-B14F-4D97-AF65-F5344CB8AC3E}">
        <p14:creationId xmlns:p14="http://schemas.microsoft.com/office/powerpoint/2010/main" val="1559283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AD4A-334B-413B-53E0-78CE7F1627DE}"/>
              </a:ext>
            </a:extLst>
          </p:cNvPr>
          <p:cNvSpPr>
            <a:spLocks noGrp="1"/>
          </p:cNvSpPr>
          <p:nvPr>
            <p:ph type="title"/>
          </p:nvPr>
        </p:nvSpPr>
        <p:spPr/>
        <p:txBody>
          <a:bodyPr/>
          <a:lstStyle/>
          <a:p>
            <a:r>
              <a:rPr lang="en-IN" dirty="0"/>
              <a:t>Important</a:t>
            </a:r>
          </a:p>
        </p:txBody>
      </p:sp>
      <p:sp>
        <p:nvSpPr>
          <p:cNvPr id="3" name="Content Placeholder 2">
            <a:extLst>
              <a:ext uri="{FF2B5EF4-FFF2-40B4-BE49-F238E27FC236}">
                <a16:creationId xmlns:a16="http://schemas.microsoft.com/office/drawing/2014/main" id="{29D7BAC9-7095-3A41-E6BE-DF328B7D3F50}"/>
              </a:ext>
            </a:extLst>
          </p:cNvPr>
          <p:cNvSpPr>
            <a:spLocks noGrp="1"/>
          </p:cNvSpPr>
          <p:nvPr>
            <p:ph idx="1"/>
          </p:nvPr>
        </p:nvSpPr>
        <p:spPr>
          <a:xfrm>
            <a:off x="677334" y="1644774"/>
            <a:ext cx="8596668" cy="3880773"/>
          </a:xfrm>
        </p:spPr>
        <p:txBody>
          <a:bodyPr/>
          <a:lstStyle/>
          <a:p>
            <a:r>
              <a:rPr lang="en-IN" dirty="0"/>
              <a:t>Will be adding diagrams of :-</a:t>
            </a:r>
          </a:p>
          <a:p>
            <a:r>
              <a:rPr lang="en-IN" dirty="0"/>
              <a:t>Force diagrams , motion examples , rocket propulsion diagrams </a:t>
            </a:r>
          </a:p>
          <a:p>
            <a:r>
              <a:rPr lang="en-IN" dirty="0"/>
              <a:t>Also explanation using:- real life examples make the paper stronger</a:t>
            </a:r>
          </a:p>
          <a:p>
            <a:endParaRPr lang="en-IN" dirty="0"/>
          </a:p>
        </p:txBody>
      </p:sp>
    </p:spTree>
    <p:extLst>
      <p:ext uri="{BB962C8B-B14F-4D97-AF65-F5344CB8AC3E}">
        <p14:creationId xmlns:p14="http://schemas.microsoft.com/office/powerpoint/2010/main" val="206826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69A8-9F14-88E8-6445-EC36FA3873F3}"/>
              </a:ext>
            </a:extLst>
          </p:cNvPr>
          <p:cNvSpPr>
            <a:spLocks noGrp="1"/>
          </p:cNvSpPr>
          <p:nvPr>
            <p:ph type="title"/>
          </p:nvPr>
        </p:nvSpPr>
        <p:spPr/>
        <p:txBody>
          <a:bodyPr/>
          <a:lstStyle/>
          <a:p>
            <a:r>
              <a:rPr lang="en-IN" dirty="0"/>
              <a:t>Simple thesis flow </a:t>
            </a:r>
          </a:p>
        </p:txBody>
      </p:sp>
      <p:sp>
        <p:nvSpPr>
          <p:cNvPr id="3" name="Content Placeholder 2">
            <a:extLst>
              <a:ext uri="{FF2B5EF4-FFF2-40B4-BE49-F238E27FC236}">
                <a16:creationId xmlns:a16="http://schemas.microsoft.com/office/drawing/2014/main" id="{2BDB9A21-59EF-1177-3D90-3F67DEF76A03}"/>
              </a:ext>
            </a:extLst>
          </p:cNvPr>
          <p:cNvSpPr>
            <a:spLocks noGrp="1"/>
          </p:cNvSpPr>
          <p:nvPr>
            <p:ph idx="1"/>
          </p:nvPr>
        </p:nvSpPr>
        <p:spPr>
          <a:xfrm>
            <a:off x="677334" y="1488613"/>
            <a:ext cx="8596668" cy="3880773"/>
          </a:xfrm>
        </p:spPr>
        <p:txBody>
          <a:bodyPr>
            <a:normAutofit lnSpcReduction="10000"/>
          </a:bodyPr>
          <a:lstStyle/>
          <a:p>
            <a:r>
              <a:rPr lang="en-IN" dirty="0"/>
              <a:t>Title page</a:t>
            </a:r>
          </a:p>
          <a:p>
            <a:r>
              <a:rPr lang="en-IN" dirty="0"/>
              <a:t>Abstract</a:t>
            </a:r>
          </a:p>
          <a:p>
            <a:r>
              <a:rPr lang="en-IN" dirty="0"/>
              <a:t>Introduction</a:t>
            </a:r>
          </a:p>
          <a:p>
            <a:r>
              <a:rPr lang="en-IN" dirty="0"/>
              <a:t>Chapter 1</a:t>
            </a:r>
          </a:p>
          <a:p>
            <a:r>
              <a:rPr lang="en-IN" dirty="0"/>
              <a:t>Chapter 2</a:t>
            </a:r>
          </a:p>
          <a:p>
            <a:r>
              <a:rPr lang="en-IN" dirty="0"/>
              <a:t>Chapter3</a:t>
            </a:r>
          </a:p>
          <a:p>
            <a:r>
              <a:rPr lang="en-IN" dirty="0"/>
              <a:t>Applications</a:t>
            </a:r>
          </a:p>
          <a:p>
            <a:r>
              <a:rPr lang="en-IN" dirty="0"/>
              <a:t>Advantages and limitations (one page)</a:t>
            </a:r>
          </a:p>
          <a:p>
            <a:r>
              <a:rPr lang="en-IN" dirty="0"/>
              <a:t>Conclusion</a:t>
            </a:r>
          </a:p>
          <a:p>
            <a:r>
              <a:rPr lang="en-IN" dirty="0"/>
              <a:t>Reference </a:t>
            </a:r>
          </a:p>
        </p:txBody>
      </p:sp>
    </p:spTree>
    <p:extLst>
      <p:ext uri="{BB962C8B-B14F-4D97-AF65-F5344CB8AC3E}">
        <p14:creationId xmlns:p14="http://schemas.microsoft.com/office/powerpoint/2010/main" val="18910910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114</TotalTime>
  <Words>723</Words>
  <Application>Microsoft Office PowerPoint</Application>
  <PresentationFormat>Widescreen</PresentationFormat>
  <Paragraphs>103</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Trebuchet MS</vt:lpstr>
      <vt:lpstr>Wingdings 3</vt:lpstr>
      <vt:lpstr>Facet</vt:lpstr>
      <vt:lpstr>Abstract  On the topic “The Study of Newtons law’s of Motion </vt:lpstr>
      <vt:lpstr>Introduction </vt:lpstr>
      <vt:lpstr>Main body of the thesis Chapter 1:- Newton’s first law of Motion </vt:lpstr>
      <vt:lpstr>Chapter 2:-Newton’s Second law of motion </vt:lpstr>
      <vt:lpstr>Chapter 3:-Newton’s law of motion </vt:lpstr>
      <vt:lpstr>Real life applications of laws of motion </vt:lpstr>
      <vt:lpstr>Advantages of Newton’s laws</vt:lpstr>
      <vt:lpstr>Limitations </vt:lpstr>
      <vt:lpstr>Conclusion </vt:lpstr>
      <vt:lpstr>Reference / bibliography</vt:lpstr>
      <vt:lpstr>Important</vt:lpstr>
      <vt:lpstr>Simple thesis flow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sakankhya sakankhya</dc:creator>
  <cp:lastModifiedBy>sakankhya sakankhya</cp:lastModifiedBy>
  <cp:revision>1</cp:revision>
  <dcterms:created xsi:type="dcterms:W3CDTF">2026-05-28T13:40:41Z</dcterms:created>
  <dcterms:modified xsi:type="dcterms:W3CDTF">2026-05-28T15:48:55Z</dcterms:modified>
</cp:coreProperties>
</file>